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82880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7724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 Labor Force Participation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Information Experiment, Benchmarked Against a 181-Country Panel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Nithish Kumar Murugan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analysis combining an original N=9 framing experiment with public cross-country labor data (ILO / World Bank, 1990–2025)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Is About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that people “misperceive” a statistic is only meaningful once that statistic’s actual behavior — relative to a defensible benchmark — has been established. This study treats that benchmarking exercise as a primary part of the analysis, not a preliminary aside.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48920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743200"/>
            <a:ext cx="640080" cy="640080"/>
          </a:xfrm>
          <a:prstGeom prst="ellipse">
            <a:avLst/>
          </a:prstGeom>
          <a:solidFill>
            <a:srgbClr val="5C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8872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1: The Pilot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38328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original experiment (N=9) testing whether accurate information about India’s FLFPR growth shifts: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support for women’s labor force participation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social norms around the issue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about whether the trend will continue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2423160"/>
            <a:ext cx="48920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743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8" y="28872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2: The Global Panel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09360" y="338328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181-country, 36-year panel (1990–2025) used to establish whether there is anything real and unusual to misperceive in the first place: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India’s growth genuinely an outlier?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India’s level rank globally?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pilot guesses compare to the real distribution — not just the point estimate?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Organize the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5C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1640" y="1508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India’s growth unusual?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194767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India’s recent rise in female LFPR stand out in cross-country perspective, or does it only look large viewed in isolation?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2926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India’s level sit?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336499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question from growth: where does India’s current FLFPR rank against the rest of the world?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777240" cy="777240"/>
          </a:xfrm>
          <a:prstGeom prst="ellipse">
            <a:avLst/>
          </a:prstGeom>
          <a:solidFill>
            <a:srgbClr val="5C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91640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guesses well-calibrated?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478231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respondents estimate India’s FLFPR, how do their guesses compare to the true value — and to where that value falls in the global distribution?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Methods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5C2A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8173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panel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0120" y="21945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 countries, 1990–2025. ILO Modelled Estimates via World Bank WDI, processed by Our World in Data. Regional/income aggregates excluded.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41732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5C2A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18173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state panel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400800" y="21945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State-by-sector FLFPR, 2017-18 vs. 2022-23. 12-row subset from Ravi &amp; Kapoor (2024), an EAC-PM working paper using PLFS microdata.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5C2A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10337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959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Asia comparator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60120" y="44805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2023–2024 FLFPR for India, Bangladesh, Pakistan, Sri Lanka, Nepal — same ILO/World Bank series, one consistent scale.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80760" y="370332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55080" y="3977640"/>
            <a:ext cx="502920" cy="502920"/>
          </a:xfrm>
          <a:prstGeom prst="ellipse">
            <a:avLst/>
          </a:prstGeom>
          <a:solidFill>
            <a:srgbClr val="5C2A4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410337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3959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survey (N=9)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400800" y="44805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arms: control, shown-the-statistic, and guess-then-correct. A feasibility exercise, not a powered study.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computation: base R only (aov, t.test, cor.test, base graphics) — no external package dependencies.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Growth Rate Is an Outlier</a:t>
            </a:r>
            <a:endParaRPr lang="en-US" sz="2800" dirty="0"/>
          </a:p>
        </p:txBody>
      </p:sp>
      <p:pic>
        <p:nvPicPr>
          <p:cNvPr id="4" name="Image 0" descr="../figures/fig1_global_growth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400800" cy="40732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5544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5C2A4A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664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97th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498080" y="2395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of global growth rates, 2015–2025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0" y="32004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26.6% → 32.4% over 2015–2025 (+22.0% relative).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against 181 other countries with comparable data, this growth rate exceeds roughly 97 of every 100 countries in the panel.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countries cluster around a modest single-digit change over the decade; India sits far into the right tail, alongside outliers like Saudi Arabia.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1, continued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India Sits Among Its Peers</a:t>
            </a:r>
            <a:endParaRPr lang="en-US" sz="2800" dirty="0"/>
          </a:p>
        </p:txBody>
      </p:sp>
      <p:pic>
        <p:nvPicPr>
          <p:cNvPr id="4" name="Image 0" descr="../figures/fig2_ranked_countr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62026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37120" y="219456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10 growth performers, plus familiar comparators (US, UK, China, Bangladesh, Pakistan, Brazil, Sri Lanka, Nepal).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sits just below Saudi Arabia, Comoros, Malta, Bolivia, and Albania — near the very top of the full sample.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 Absolute Level Remains 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18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11.5th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3500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of global FLFPR level, 2023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“low base” pattern: roughly 88% of countries in the panel have higher female LFPR than India, despite its unusually rapid recent growth.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level are distinct statistics — climbing fast does not by itself mean catching up.</a:t>
            </a:r>
            <a:endParaRPr lang="en-US" sz="1300" dirty="0"/>
          </a:p>
        </p:txBody>
      </p:sp>
      <p:pic>
        <p:nvPicPr>
          <p:cNvPr id="8" name="Image 0" descr="../figures/fig3_state_panel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463040"/>
            <a:ext cx="6309360" cy="41010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2, continued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in Regional Context</a:t>
            </a:r>
            <a:endParaRPr lang="en-US" sz="2800" dirty="0"/>
          </a:p>
        </p:txBody>
      </p:sp>
      <p:pic>
        <p:nvPicPr>
          <p:cNvPr id="4" name="Image 0" descr="../figures/fig4_south_asia_compa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6126480" cy="39822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2360" y="210312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five South Asian countries on the same internationally harmonized series, India’s 2024 FLFPR (32.8%) sits in the middle: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Bangladesh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Sri Lanka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Pakistan and Nepal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sit well below the global average of 51.1%.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Guesses, Benchmarked Against the World</a:t>
            </a:r>
            <a:endParaRPr lang="en-US" sz="2600" dirty="0"/>
          </a:p>
        </p:txBody>
      </p:sp>
      <p:pic>
        <p:nvPicPr>
          <p:cNvPr id="4" name="Image 0" descr="../figures/fig5_pilot_vs_global_relatio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31536" cy="37033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17320"/>
          <a:ext cx="4754880" cy="13716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1051560"/>
                <a:gridCol w="914400"/>
                <a:gridCol w="82296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Respondent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Guess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True 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Guess %ile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True %ile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C01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30%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31.24%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10.4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11.5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C02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30%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31.24%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10.4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11.5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D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C03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35%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31.24%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13.1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125"/>
                          </a:solidFill>
                        </a:rPr>
                        <a:t>11.5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66560" y="29718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the World Bank/ILO comparator, guesses placed India almost exactly where it actually falls in the global distribution.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large misperception — respondents’ intuitive sense of India’s relative standing was well calibrated against this particular source.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914400" cy="914400"/>
          </a:xfrm>
          <a:prstGeom prst="ellipse">
            <a:avLst/>
          </a:prstGeom>
          <a:solidFill>
            <a:srgbClr val="4A25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8458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Depends on Which “Truth” You Choose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96596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4A2540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240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Bank / ILO series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7280" y="2743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31.24%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97280" y="34747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Internationally harmonized definition. Used for the global panel, so all 181 countries are on one scale.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97280" y="44805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guesses look well-calibrated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4A2540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2240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own PLFS statistic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29400" y="2743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~41–42%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629400" y="34747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survey design, slightly later reference period. Not directly comparable to the cross-country series.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44805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guesses look like an underestimate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legitimately “India’s female labor force participation rate.” The choice of benchmark — not measurement error — determines whether the apparent misperception is negligible or large.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1571625"/>
            <a:ext cx="377190" cy="377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173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1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is climbing quickly (97th percentile on growth) from a low starting point (11th percentile on level), in a way broadly consistent with how this small group of respondents intuitively ranked it — at least relative to one credible international series.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12700">
            <a:solidFill>
              <a:srgbClr val="E3D3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971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intuition that “India still lags substantially” is not, on this evidence, a misperception — it is approximately correct.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genuine source of potential confusion is not cross-country ranking, but: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how fast things are changing within India itself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India’s national statistics with internationally harmonized series that can diverge by ten percentage points or more — a methodological gap, not a substantive 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4E9D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1621917"/>
            <a:ext cx="276606" cy="2766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4475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pilot's attitudinal component (N=9, 3 arms) is not powered to detect anything but very large effects — reported as exploratory, not confirmatory.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F4E9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271919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54203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 state panel is a 12-row subset reported in a single working paper, not an independently constructed full state-year panel.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F4E9D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816477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63931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panel relies on ILO modelled estimates, which combine direct survey data with statistical imputation where country-level data is missing.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F4E9D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4913757"/>
            <a:ext cx="276606" cy="2766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7365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percentile-rank exercise is descriptive: it characterizes where India sits in a distribution, and does not identify the causes of India's growth trajectory.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" y="210312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4A254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39" y="1089279"/>
            <a:ext cx="427482" cy="4274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0" y="9144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and Reproducibility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1828800" y="1965960"/>
            <a:ext cx="8961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E3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cleaning, percentile-rank calculations, the analysis of variance on pilot outcomes, and every figure in this deck were produced by a single R script.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 only — no external package dependencies.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Script, raw data, and output tables are included in the project repository.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1828800" y="4434840"/>
            <a:ext cx="73152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Nithish Kumar Murugan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Misperception and Norms in Female Labor Force Participation: A Pilot Information Experiment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Misperception and Norms in Female Labor Force Participation</dc:title>
  <dc:subject>PptxGenJS Presentation</dc:subject>
  <dc:creator>Joel Nithish Kumar Murugan</dc:creator>
  <cp:lastModifiedBy>Joel Nithish Kumar Murugan</cp:lastModifiedBy>
  <cp:revision>1</cp:revision>
  <dcterms:created xsi:type="dcterms:W3CDTF">2026-06-17T18:36:18Z</dcterms:created>
  <dcterms:modified xsi:type="dcterms:W3CDTF">2026-06-17T18:36:18Z</dcterms:modified>
</cp:coreProperties>
</file>